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1A06-2F8C-A2D9-B93B-C66F262043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Super store sales&amp;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BA5FE-3ECF-8576-2AA1-F9593E348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SARAN KUMAR.M</a:t>
            </a:r>
          </a:p>
        </p:txBody>
      </p:sp>
    </p:spTree>
    <p:extLst>
      <p:ext uri="{BB962C8B-B14F-4D97-AF65-F5344CB8AC3E}">
        <p14:creationId xmlns:p14="http://schemas.microsoft.com/office/powerpoint/2010/main" val="393250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8E1E-7D78-9F25-F3A8-30144C9D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23080-BADF-F86D-FA40-9CC2AAA2B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315" y="1942059"/>
            <a:ext cx="8406705" cy="3466058"/>
          </a:xfrm>
        </p:spPr>
        <p:txBody>
          <a:bodyPr/>
          <a:lstStyle/>
          <a:p>
            <a:pPr lvl="0"/>
            <a:r>
              <a:rPr lang="en-IN" b="1" dirty="0"/>
              <a:t>Sales vs. Profit Gap:</a:t>
            </a:r>
            <a:r>
              <a:rPr lang="en-IN" dirty="0"/>
              <a:t> High revenue ($2.3M) hides significant profit leakage due to excessive discounting.</a:t>
            </a:r>
          </a:p>
          <a:p>
            <a:pPr lvl="0"/>
            <a:r>
              <a:rPr lang="en-IN" b="1" dirty="0"/>
              <a:t>Discount Misuse:</a:t>
            </a:r>
            <a:r>
              <a:rPr lang="en-IN" dirty="0"/>
              <a:t> Discounts above 20% severely erode margins, causing 18.7% of all orders to lose money.</a:t>
            </a:r>
          </a:p>
          <a:p>
            <a:pPr lvl="0"/>
            <a:r>
              <a:rPr lang="en-IN" b="1" dirty="0"/>
              <a:t>Underperforming Products:</a:t>
            </a:r>
            <a:r>
              <a:rPr lang="en-IN" dirty="0"/>
              <a:t> Sub-categories like Tables, Bookcases, and Supplies operate at net losses.</a:t>
            </a:r>
          </a:p>
          <a:p>
            <a:pPr lvl="0"/>
            <a:r>
              <a:rPr lang="en-IN" b="1" dirty="0"/>
              <a:t>Regional Disparities:</a:t>
            </a:r>
            <a:r>
              <a:rPr lang="en-IN" dirty="0"/>
              <a:t> The Central region severely lags due to excessive promotional discounting.</a:t>
            </a:r>
          </a:p>
          <a:p>
            <a:pPr lvl="0"/>
            <a:r>
              <a:rPr lang="en-IN" b="1" dirty="0"/>
              <a:t>Core Objective:</a:t>
            </a:r>
            <a:r>
              <a:rPr lang="en-IN" dirty="0"/>
              <a:t> Identify root causes of margin loss and deliver data-driven strategies to restore overall profitability.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965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8FC03-8429-1299-F478-E2D99CEA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1A252-AED8-5FE9-41E1-B1759CE97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2183"/>
            <a:ext cx="8721499" cy="3353634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Dataset Source &amp; Format:</a:t>
            </a:r>
            <a:r>
              <a:rPr lang="en-IN" dirty="0"/>
              <a:t> Superstore sales data in CSV format covering orders, shipping, customers, products, and financials. </a:t>
            </a:r>
          </a:p>
          <a:p>
            <a:pPr lvl="0"/>
            <a:r>
              <a:rPr lang="en-IN" b="1" dirty="0"/>
              <a:t>Volume:</a:t>
            </a:r>
            <a:r>
              <a:rPr lang="en-IN" dirty="0"/>
              <a:t> Consists of 21 columns and 9,995 total raw rows, which became 9,994 unique records after cleaning and removing 7 duplicates. </a:t>
            </a:r>
          </a:p>
          <a:p>
            <a:pPr lvl="0"/>
            <a:r>
              <a:rPr lang="en-IN" b="1" dirty="0"/>
              <a:t>Scope:</a:t>
            </a:r>
            <a:r>
              <a:rPr lang="en-IN" dirty="0"/>
              <a:t> Covers 4 regions and 3 product categories. </a:t>
            </a:r>
          </a:p>
          <a:p>
            <a:pPr lvl="0"/>
            <a:r>
              <a:rPr lang="en-IN" b="1" dirty="0"/>
              <a:t>Data Types:</a:t>
            </a:r>
            <a:r>
              <a:rPr lang="en-IN" dirty="0"/>
              <a:t> Includes string, integer, and float data types. </a:t>
            </a:r>
          </a:p>
          <a:p>
            <a:pPr lvl="0"/>
            <a:r>
              <a:rPr lang="en-IN" b="1" dirty="0"/>
              <a:t>Key Columns:</a:t>
            </a:r>
            <a:r>
              <a:rPr lang="en-IN" dirty="0"/>
              <a:t> Row ID, Order ID, Order Date, Ship Date, Ship Mode, Customer ID, Customer Name, Segment, Country, City, State, Postal Code, Region, Product ID, Category, Sub-Category, Product Name, Sales, Quantity, Discount, and Profit. </a:t>
            </a:r>
          </a:p>
        </p:txBody>
      </p:sp>
    </p:spTree>
    <p:extLst>
      <p:ext uri="{BB962C8B-B14F-4D97-AF65-F5344CB8AC3E}">
        <p14:creationId xmlns:p14="http://schemas.microsoft.com/office/powerpoint/2010/main" val="3468482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CD85-D9CB-86B4-F755-02B7835E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284D-013F-2813-C1E6-1D165CCD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206" y="2033249"/>
            <a:ext cx="6446924" cy="2791501"/>
          </a:xfrm>
        </p:spPr>
        <p:txBody>
          <a:bodyPr/>
          <a:lstStyle/>
          <a:p>
            <a:pPr lvl="0"/>
            <a:r>
              <a:rPr lang="en-IN" sz="2400" b="1" dirty="0"/>
              <a:t>Logistics:</a:t>
            </a:r>
            <a:r>
              <a:rPr lang="en-IN" sz="2400" dirty="0"/>
              <a:t> Order ID, Ship Date, Ship Mode</a:t>
            </a:r>
          </a:p>
          <a:p>
            <a:pPr lvl="0"/>
            <a:r>
              <a:rPr lang="en-IN" sz="2400" b="1" dirty="0"/>
              <a:t>Customer:</a:t>
            </a:r>
            <a:r>
              <a:rPr lang="en-IN" sz="2400" dirty="0"/>
              <a:t> Segment, State, Region</a:t>
            </a:r>
          </a:p>
          <a:p>
            <a:pPr lvl="0"/>
            <a:r>
              <a:rPr lang="en-IN" sz="2400" b="1" dirty="0"/>
              <a:t>Product:</a:t>
            </a:r>
            <a:r>
              <a:rPr lang="en-IN" sz="2400" dirty="0"/>
              <a:t> Category, Sub-Category, Product ID</a:t>
            </a:r>
          </a:p>
          <a:p>
            <a:pPr lvl="0"/>
            <a:r>
              <a:rPr lang="en-IN" sz="2400" b="1" dirty="0"/>
              <a:t>Metrics:</a:t>
            </a:r>
            <a:r>
              <a:rPr lang="en-IN" sz="2400" dirty="0"/>
              <a:t> Sales, Quantity, Discount, Profit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0228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073F9-FDC9-F21A-86DA-63AB7EC4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&amp;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E7C90-26B8-2E05-B5F8-25260043E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039" y="2215724"/>
            <a:ext cx="7672187" cy="2531332"/>
          </a:xfrm>
        </p:spPr>
        <p:txBody>
          <a:bodyPr/>
          <a:lstStyle/>
          <a:p>
            <a:pPr lvl="0"/>
            <a:r>
              <a:rPr lang="en-IN" b="1" dirty="0"/>
              <a:t>Zero Missing Values:</a:t>
            </a:r>
            <a:r>
              <a:rPr lang="en-IN" dirty="0"/>
              <a:t> Validated complete data across all 21 columns.</a:t>
            </a:r>
          </a:p>
          <a:p>
            <a:pPr lvl="0"/>
            <a:r>
              <a:rPr lang="en-IN" b="1"/>
              <a:t>duplication</a:t>
            </a:r>
            <a:r>
              <a:rPr lang="en-IN" b="1" dirty="0"/>
              <a:t>:</a:t>
            </a:r>
            <a:r>
              <a:rPr lang="en-IN" dirty="0"/>
              <a:t> Purged 7 duplicate rows, leaving 9,994 unique records.</a:t>
            </a:r>
          </a:p>
          <a:p>
            <a:pPr lvl="0"/>
            <a:r>
              <a:rPr lang="en-IN" b="1" dirty="0"/>
              <a:t>Data Types:</a:t>
            </a:r>
            <a:r>
              <a:rPr lang="en-IN" dirty="0"/>
              <a:t> Formatted dates as Date type and Sales as Numeric.</a:t>
            </a:r>
          </a:p>
          <a:p>
            <a:pPr lvl="0"/>
            <a:r>
              <a:rPr lang="en-IN" b="1" dirty="0"/>
              <a:t>Standardization:</a:t>
            </a:r>
            <a:r>
              <a:rPr lang="en-IN" dirty="0"/>
              <a:t> Cleaned text via TRIM, CLEAN, PROPER, and UPPER.</a:t>
            </a:r>
          </a:p>
          <a:p>
            <a:pPr lvl="0"/>
            <a:r>
              <a:rPr lang="en-IN" b="1" dirty="0"/>
              <a:t>Structure:</a:t>
            </a:r>
            <a:r>
              <a:rPr lang="en-IN" dirty="0"/>
              <a:t> Converted to an Excel Table (Ctrl + T) with Freeze Panes.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92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3A24-2A94-8DD3-548E-0A5041B1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EXCEL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A223C-26FE-5C04-EF22-37F9CDA81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020" y="1975957"/>
            <a:ext cx="7517245" cy="2906086"/>
          </a:xfrm>
        </p:spPr>
        <p:txBody>
          <a:bodyPr/>
          <a:lstStyle/>
          <a:p>
            <a:r>
              <a:rPr lang="en-IN" b="1" dirty="0"/>
              <a:t>Statistical Functions</a:t>
            </a:r>
          </a:p>
          <a:p>
            <a:pPr lvl="0"/>
            <a:r>
              <a:rPr lang="en-IN" b="1" dirty="0"/>
              <a:t>SUM:</a:t>
            </a:r>
            <a:r>
              <a:rPr lang="en-IN" dirty="0"/>
              <a:t> =SUM(Table1 [Sales]) (used to calculate total sales and profit) </a:t>
            </a:r>
          </a:p>
          <a:p>
            <a:pPr lvl="0"/>
            <a:r>
              <a:rPr lang="en-IN" b="1" dirty="0"/>
              <a:t>AVERAGE:</a:t>
            </a:r>
            <a:r>
              <a:rPr lang="en-IN" dirty="0"/>
              <a:t> =AVERAGE(Table1 [Sales]) (used to find the average sale amount) </a:t>
            </a:r>
          </a:p>
          <a:p>
            <a:pPr lvl="0"/>
            <a:r>
              <a:rPr lang="en-IN" b="1" dirty="0"/>
              <a:t>MIN:</a:t>
            </a:r>
            <a:r>
              <a:rPr lang="en-IN" dirty="0"/>
              <a:t> =MIN(Table1 [Sales]) (used to find the lowest sale amount) </a:t>
            </a:r>
          </a:p>
          <a:p>
            <a:pPr lvl="0"/>
            <a:r>
              <a:rPr lang="en-IN" b="1" dirty="0"/>
              <a:t>MAX:</a:t>
            </a:r>
            <a:r>
              <a:rPr lang="en-IN" dirty="0"/>
              <a:t> =MAX(Table1 [Sales]) (used to find the highest sale amount) </a:t>
            </a:r>
          </a:p>
          <a:p>
            <a:pPr lvl="0"/>
            <a:r>
              <a:rPr lang="en-IN" b="1" dirty="0"/>
              <a:t>COUNT:</a:t>
            </a:r>
            <a:r>
              <a:rPr lang="en-IN" dirty="0"/>
              <a:t> =COUNT(Table1 [Row ID]) (used to count total records)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693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2C43-876F-F4AD-289D-89CDAB5F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PIVOT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6E7BB-6F7F-8761-8E83-DF4DAC415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305" y="2590553"/>
            <a:ext cx="8376725" cy="1676893"/>
          </a:xfrm>
        </p:spPr>
        <p:txBody>
          <a:bodyPr/>
          <a:lstStyle/>
          <a:p>
            <a:pPr lvl="0"/>
            <a:r>
              <a:rPr lang="en-IN" b="1" dirty="0"/>
              <a:t>Pivot 1:</a:t>
            </a:r>
            <a:r>
              <a:rPr lang="en-IN" dirty="0"/>
              <a:t> Rows: Sub-Category | Values: Sum of Sales | Chart: Bar Chart </a:t>
            </a:r>
          </a:p>
          <a:p>
            <a:pPr lvl="0"/>
            <a:r>
              <a:rPr lang="en-IN" b="1" dirty="0"/>
              <a:t>Pivot 2:</a:t>
            </a:r>
            <a:r>
              <a:rPr lang="en-IN" dirty="0"/>
              <a:t> Rows: Region | Values: Sum of Profit | Chart: Column Chart </a:t>
            </a:r>
          </a:p>
          <a:p>
            <a:pPr lvl="0"/>
            <a:r>
              <a:rPr lang="en-IN" b="1" dirty="0"/>
              <a:t>Pivot 3:</a:t>
            </a:r>
            <a:r>
              <a:rPr lang="en-IN" dirty="0"/>
              <a:t> Rows: Quantity | Values: Sum of Sales | Chart: Line Chart </a:t>
            </a:r>
          </a:p>
          <a:p>
            <a:pPr lvl="0"/>
            <a:r>
              <a:rPr lang="en-IN" b="1" dirty="0"/>
              <a:t>Pivot 4:</a:t>
            </a:r>
            <a:r>
              <a:rPr lang="en-IN" dirty="0"/>
              <a:t> Rows: Category | Values: Sum of Sales | Chart: Pie/Doughnut Chart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9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00F5-940B-3C07-B27D-3A3E5720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&amp; KEY VISUALS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C1DB-43A0-B404-1B9E-ADA6C894F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5587"/>
            <a:ext cx="8766469" cy="417059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Dashboard Overview:</a:t>
            </a:r>
            <a:r>
              <a:rPr lang="en-IN" dirty="0"/>
              <a:t> An interactive Excel dashboard featuring KPIs, 4 charts, and slicers for real-time filtering. </a:t>
            </a:r>
          </a:p>
          <a:p>
            <a:pPr lvl="0"/>
            <a:r>
              <a:rPr lang="en-IN" b="1" dirty="0"/>
              <a:t>KPI Cards (4 Metrics):</a:t>
            </a:r>
            <a:r>
              <a:rPr lang="en-IN" dirty="0"/>
              <a:t> Total Sales ($22,97,201), Total Profit ($286,397), Total Quantity (37,873), and Total Orders (5,009). </a:t>
            </a:r>
          </a:p>
          <a:p>
            <a:pPr lvl="0"/>
            <a:r>
              <a:rPr lang="en-IN" b="1" dirty="0"/>
              <a:t>Chart 1 (Bar Chart):</a:t>
            </a:r>
            <a:r>
              <a:rPr lang="en-IN" dirty="0"/>
              <a:t> Sales by Sub-Category highlights Phones and Chairs as top performers. </a:t>
            </a:r>
          </a:p>
          <a:p>
            <a:pPr lvl="0"/>
            <a:r>
              <a:rPr lang="en-IN" b="1" dirty="0"/>
              <a:t>Chart 2 (Column Chart):</a:t>
            </a:r>
            <a:r>
              <a:rPr lang="en-IN" dirty="0"/>
              <a:t> Profit by Region shows West leading ($108K) and Central lagging ($39K). </a:t>
            </a:r>
          </a:p>
          <a:p>
            <a:pPr lvl="0"/>
            <a:r>
              <a:rPr lang="en-IN" b="1" dirty="0"/>
              <a:t>Chart 3 (Line Chart):</a:t>
            </a:r>
            <a:r>
              <a:rPr lang="en-IN" dirty="0"/>
              <a:t> Sales by Quantity demonstrates that 2–5 units drive 63% of sales. </a:t>
            </a:r>
          </a:p>
          <a:p>
            <a:pPr lvl="0"/>
            <a:r>
              <a:rPr lang="en-IN" b="1" dirty="0"/>
              <a:t>Chart 4 (Doughnut Chart):</a:t>
            </a:r>
            <a:r>
              <a:rPr lang="en-IN" dirty="0"/>
              <a:t> Sales by Category shows Technology leading slightly at 36%, followed by Furniture and Office Supplies. </a:t>
            </a:r>
          </a:p>
          <a:p>
            <a:pPr lvl="0"/>
            <a:r>
              <a:rPr lang="en-IN" b="1" dirty="0"/>
              <a:t>Interactive Slicers:</a:t>
            </a:r>
            <a:r>
              <a:rPr lang="en-IN" dirty="0"/>
              <a:t> Four filter slicers for Segment, Region, Ship Mode, and Category to enable deep-dive analysis.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0137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5E1C-753B-1BFE-2262-25C5EB1F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 &amp;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5005-3469-26E1-69C6-E8CC77F17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751" y="1930400"/>
            <a:ext cx="8211833" cy="3760526"/>
          </a:xfrm>
        </p:spPr>
        <p:txBody>
          <a:bodyPr/>
          <a:lstStyle/>
          <a:p>
            <a:pPr lvl="0"/>
            <a:r>
              <a:rPr lang="en-IN" b="1" dirty="0"/>
              <a:t>Key Insights:</a:t>
            </a:r>
            <a:endParaRPr lang="en-IN" dirty="0"/>
          </a:p>
          <a:p>
            <a:pPr lvl="1"/>
            <a:r>
              <a:rPr lang="en-IN" dirty="0"/>
              <a:t>18.7% of order lines lose money due to heavy discounting (&gt;20%). </a:t>
            </a:r>
          </a:p>
          <a:p>
            <a:pPr lvl="1"/>
            <a:r>
              <a:rPr lang="en-IN" dirty="0"/>
              <a:t>Technology leads profits, while Furniture yields a weak 2.5% margin with loss-making items. </a:t>
            </a:r>
          </a:p>
          <a:p>
            <a:pPr lvl="1"/>
            <a:r>
              <a:rPr lang="en-IN" dirty="0"/>
              <a:t>West is the top region, whereas Central underperforms with a 7.9% margin. </a:t>
            </a:r>
          </a:p>
          <a:p>
            <a:pPr lvl="0"/>
            <a:r>
              <a:rPr lang="en-IN" b="1" dirty="0"/>
              <a:t>Recommendations:</a:t>
            </a:r>
            <a:endParaRPr lang="en-IN" dirty="0"/>
          </a:p>
          <a:p>
            <a:pPr lvl="1"/>
            <a:r>
              <a:rPr lang="en-IN" dirty="0"/>
              <a:t>Restrict discounts above 20% and ban discounts over 40%. </a:t>
            </a:r>
          </a:p>
          <a:p>
            <a:pPr lvl="1"/>
            <a:r>
              <a:rPr lang="en-IN" dirty="0"/>
              <a:t>Review pricing and costs for loss-making items like Tables and Bookcases. </a:t>
            </a:r>
          </a:p>
          <a:p>
            <a:pPr lvl="1"/>
            <a:r>
              <a:rPr lang="en-IN" dirty="0"/>
              <a:t>Audit discount policies and struggling states in the Central region.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761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D8F4-D4F1-25C1-F5DB-982DBC15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B9780-22AC-22A8-1D83-4D286A185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rmAutofit lnSpcReduction="10000"/>
          </a:bodyPr>
          <a:lstStyle/>
          <a:p>
            <a:pPr lvl="0"/>
            <a:r>
              <a:rPr lang="en-IN" b="1" dirty="0"/>
              <a:t>Project Scope:</a:t>
            </a:r>
            <a:r>
              <a:rPr lang="en-IN" dirty="0"/>
              <a:t> Successfully executed the full data workflow in Excel on 9,994 unique records, creating a structured table, formulas, pivot tables, and an interactive dashboard. </a:t>
            </a:r>
          </a:p>
          <a:p>
            <a:pPr lvl="0"/>
            <a:r>
              <a:rPr lang="en-IN" b="1" dirty="0"/>
              <a:t>Business Performance:</a:t>
            </a:r>
            <a:r>
              <a:rPr lang="en-IN" dirty="0"/>
              <a:t> Generated $2.29M in sales and $286K in profit (12.5% margin) across 37,873 units and 5,009 orders. </a:t>
            </a:r>
          </a:p>
          <a:p>
            <a:pPr lvl="0"/>
            <a:r>
              <a:rPr lang="en-IN" b="1" dirty="0"/>
              <a:t>Core Findings:</a:t>
            </a:r>
            <a:r>
              <a:rPr lang="en-IN" dirty="0"/>
              <a:t> Technology leads in revenue and profit, while Furniture yields a low 2.5% margin and the West region outperforms the Central region. </a:t>
            </a:r>
          </a:p>
          <a:p>
            <a:pPr lvl="0"/>
            <a:r>
              <a:rPr lang="en-IN" b="1" dirty="0"/>
              <a:t>Key Driver of Loss:</a:t>
            </a:r>
            <a:r>
              <a:rPr lang="en-IN" dirty="0"/>
              <a:t> Heavy discounting (&gt;20%) causes about 18.7% of all order lines to lose money. </a:t>
            </a:r>
          </a:p>
          <a:p>
            <a:pPr lvl="0"/>
            <a:r>
              <a:rPr lang="en-IN" b="1" dirty="0"/>
              <a:t>Final Takeaway:</a:t>
            </a:r>
            <a:r>
              <a:rPr lang="en-IN" dirty="0"/>
              <a:t> Management should restrict heavy discounting, audit loss-making products, and invest in top categories and regions to boost future profitability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9817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4985419009840B4D4BA1B8AA811AC" ma:contentTypeVersion="5" ma:contentTypeDescription="Create a new document." ma:contentTypeScope="" ma:versionID="d13a9f43a24b4d78bee891debb1c9c67">
  <xsd:schema xmlns:xsd="http://www.w3.org/2001/XMLSchema" xmlns:xs="http://www.w3.org/2001/XMLSchema" xmlns:p="http://schemas.microsoft.com/office/2006/metadata/properties" xmlns:ns3="42db5bb6-9e05-4264-a1db-86a8253c1ffa" targetNamespace="http://schemas.microsoft.com/office/2006/metadata/properties" ma:root="true" ma:fieldsID="a0284db7807acd323e568a2a5833d736" ns3:_="">
    <xsd:import namespace="42db5bb6-9e05-4264-a1db-86a8253c1ff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b5bb6-9e05-4264-a1db-86a8253c1ff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b5bb6-9e05-4264-a1db-86a8253c1ffa" xsi:nil="true"/>
  </documentManagement>
</p:properties>
</file>

<file path=customXml/itemProps1.xml><?xml version="1.0" encoding="utf-8"?>
<ds:datastoreItem xmlns:ds="http://schemas.openxmlformats.org/officeDocument/2006/customXml" ds:itemID="{B1B14773-8085-4EF9-A085-00346E4720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db5bb6-9e05-4264-a1db-86a8253c1f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C40EBE-3DA5-4560-8000-8E48E8EEBE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9CB932-AAA5-4826-88FD-F2543681A046}">
  <ds:schemaRefs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42db5bb6-9e05-4264-a1db-86a8253c1ff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193</TotalTime>
  <Words>873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Super store sales&amp; profitability analysis</vt:lpstr>
      <vt:lpstr>BUSINESS PROBLEM</vt:lpstr>
      <vt:lpstr>DATASET OVERVIEW</vt:lpstr>
      <vt:lpstr>DATA DICTIONARY</vt:lpstr>
      <vt:lpstr>DATA CLEANING &amp; TRANSFORMATION</vt:lpstr>
      <vt:lpstr>EXCEL FORMULAS</vt:lpstr>
      <vt:lpstr>PIVOT TABLES</vt:lpstr>
      <vt:lpstr>DASHBOARD &amp; KEY VISUALS</vt:lpstr>
      <vt:lpstr>KEY INSIGHTS &amp; RECOMMENDATION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S0225281</dc:creator>
  <cp:lastModifiedBy>S0225281</cp:lastModifiedBy>
  <cp:revision>2</cp:revision>
  <dcterms:created xsi:type="dcterms:W3CDTF">2026-10-16T14:22:07Z</dcterms:created>
  <dcterms:modified xsi:type="dcterms:W3CDTF">2026-10-17T04:46:48Z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0x0101007F04985419009840B4D4BA1B8AA811AC</vt:lpwstr>
  </property>
</Properties>
</file>